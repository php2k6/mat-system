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71" r:id="rId9"/>
    <p:sldId id="276" r:id="rId10"/>
    <p:sldId id="273" r:id="rId11"/>
    <p:sldId id="274" r:id="rId12"/>
    <p:sldId id="265" r:id="rId13"/>
    <p:sldId id="275" r:id="rId14"/>
    <p:sldId id="277" r:id="rId15"/>
    <p:sldId id="260" r:id="rId16"/>
    <p:sldId id="270" r:id="rId17"/>
    <p:sldId id="269" r:id="rId18"/>
    <p:sldId id="26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D7865A7-45E2-03CA-8622-F5A9A210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7DEB23DF-0AE4-ADB8-A61C-16486032C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910E1C09-777C-842B-13B9-78DE0D7BA2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27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42B2DDE-55B1-21D5-FC17-37C33BC2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83A77E9D-4783-6C7C-9D55-86A90AAD2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C41B7B70-F8EE-659B-0D3A-84918E7DA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5610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260E3BF-8408-F55A-8EE7-CCB06573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3E04088B-5B45-10A6-2EB4-2B8284437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A52D8F90-7076-7B33-C4B7-CF24DBB63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420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90D808C-9632-0F1E-0735-FEC644ED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AA1AB27A-AC12-5D2F-02FC-3CF6F6C16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58E5D90D-DC9B-95DC-843E-14B578642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814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493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777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552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290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071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4E188BD-B259-49A7-5D10-4EF3CCDF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2FBA829D-37EA-0442-55D2-ADA1804AF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871ADF92-858C-34C9-B5B6-818D9A0EE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838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6806CD90-0EAC-F3A8-D14B-45169D18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2A803919-56B2-3ACB-1F26-969C77410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C4520805-80BE-E0CF-3684-231CB436F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768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3175" y="6492874"/>
            <a:ext cx="12188700" cy="3651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-1905" y="6424595"/>
            <a:ext cx="12207300" cy="91500"/>
          </a:xfrm>
          <a:prstGeom prst="rect">
            <a:avLst/>
          </a:prstGeom>
          <a:solidFill>
            <a:srgbClr val="FCB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4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0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2000" cy="491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2" name="Google Shape;102;p10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 txBox="1">
            <a:spLocks noGrp="1"/>
          </p:cNvSpPr>
          <p:nvPr>
            <p:ph type="body" idx="1"/>
          </p:nvPr>
        </p:nvSpPr>
        <p:spPr>
          <a:xfrm rot="5400000">
            <a:off x="4114830" y="-1171816"/>
            <a:ext cx="40233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2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jp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ranaroussi.github.io/yfinance/reference/index.html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myapi.fyers.in/docsv3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niftyindices.com/market-data/return-profile" TargetMode="External"/><Relationship Id="rId5" Type="http://schemas.openxmlformats.org/officeDocument/2006/relationships/hyperlink" Target="https://www.nseindia.com/all-reports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groww.in/blog/momentum-fund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-34661" y="1765837"/>
            <a:ext cx="12239700" cy="957600"/>
          </a:xfrm>
          <a:prstGeom prst="rect">
            <a:avLst/>
          </a:prstGeom>
          <a:solidFill>
            <a:srgbClr val="FCBD0D"/>
          </a:solidFill>
          <a:ln w="15875" cap="flat" cmpd="sng">
            <a:solidFill>
              <a:srgbClr val="A65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247" y="239784"/>
            <a:ext cx="120210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-86379" y="293314"/>
            <a:ext cx="121902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 H PATEL COLLEGE OF ENGINEERING &amp; TECHNOLOGY</a:t>
            </a:r>
            <a:endParaRPr dirty="0"/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(THE CHARUTAR VIDYA MANDAL (CVM) UNIVERSITY)</a:t>
            </a:r>
            <a:endParaRPr dirty="0"/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100" b="1" i="0" u="none" strike="noStrike" cap="small" dirty="0">
                <a:solidFill>
                  <a:srgbClr val="724209"/>
                </a:solidFill>
                <a:latin typeface="Arial"/>
                <a:ea typeface="Arial"/>
                <a:cs typeface="Arial"/>
                <a:sym typeface="Arial"/>
              </a:rPr>
              <a:t>DEPARTMENT OF COMPUTER ENGINEERING</a:t>
            </a:r>
            <a:endParaRPr dirty="0"/>
          </a:p>
        </p:txBody>
      </p:sp>
      <p:sp>
        <p:nvSpPr>
          <p:cNvPr id="127" name="Google Shape;127;p13"/>
          <p:cNvSpPr/>
          <p:nvPr/>
        </p:nvSpPr>
        <p:spPr>
          <a:xfrm>
            <a:off x="610222" y="4795784"/>
            <a:ext cx="238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Presented By 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-34840" y="1917509"/>
            <a:ext cx="12138600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800" b="1" cap="small" dirty="0">
                <a:solidFill>
                  <a:schemeClr val="dk1"/>
                </a:solidFill>
              </a:rPr>
              <a:t>MAT System - </a:t>
            </a:r>
            <a:r>
              <a:rPr lang="en-US" sz="2800" b="1" cap="small" dirty="0">
                <a:solidFill>
                  <a:srgbClr val="0070C0"/>
                </a:solidFill>
              </a:rPr>
              <a:t>M</a:t>
            </a:r>
            <a:r>
              <a:rPr lang="en-US" sz="2800" b="1" cap="small" dirty="0">
                <a:solidFill>
                  <a:schemeClr val="dk1"/>
                </a:solidFill>
              </a:rPr>
              <a:t>omentum based </a:t>
            </a:r>
            <a:r>
              <a:rPr lang="en-US" sz="2800" b="1" cap="small" dirty="0">
                <a:solidFill>
                  <a:srgbClr val="0070C0"/>
                </a:solidFill>
              </a:rPr>
              <a:t>A</a:t>
            </a:r>
            <a:r>
              <a:rPr lang="en-US" sz="2800" b="1" cap="small" dirty="0">
                <a:solidFill>
                  <a:schemeClr val="dk1"/>
                </a:solidFill>
              </a:rPr>
              <a:t>lgorithmic </a:t>
            </a:r>
            <a:r>
              <a:rPr lang="en-US" sz="2800" b="1" cap="small" dirty="0">
                <a:solidFill>
                  <a:srgbClr val="0070C0"/>
                </a:solidFill>
              </a:rPr>
              <a:t>T</a:t>
            </a:r>
            <a:r>
              <a:rPr lang="en-US" sz="2800" b="1" cap="small" dirty="0">
                <a:solidFill>
                  <a:schemeClr val="dk1"/>
                </a:solidFill>
              </a:rPr>
              <a:t>rading </a:t>
            </a:r>
            <a:r>
              <a:rPr lang="en-US" sz="2800" b="1" cap="small" dirty="0">
                <a:solidFill>
                  <a:srgbClr val="0070C0"/>
                </a:solidFill>
              </a:rPr>
              <a:t>System</a:t>
            </a:r>
            <a:r>
              <a:rPr lang="en-US" sz="2800" b="1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 dirty="0"/>
          </a:p>
        </p:txBody>
      </p:sp>
      <p:sp>
        <p:nvSpPr>
          <p:cNvPr id="129" name="Google Shape;129;p13"/>
          <p:cNvSpPr/>
          <p:nvPr/>
        </p:nvSpPr>
        <p:spPr>
          <a:xfrm>
            <a:off x="9081540" y="4795784"/>
            <a:ext cx="26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Internal Guide</a:t>
            </a:r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13114" y="4096643"/>
            <a:ext cx="12192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small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2200" b="1" i="0" u="none" strike="noStrike" cap="small" baseline="30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200" b="1" i="0" u="none" strike="noStrike" cap="small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January, 2026</a:t>
            </a:r>
            <a:endParaRPr sz="2200" b="1" i="0" u="none" strike="noStrike" cap="small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0325" y="2824114"/>
            <a:ext cx="12164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 PROJECT (202040601)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 dirty="0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dirty="0"/>
          </a:p>
        </p:txBody>
      </p:sp>
      <p:sp>
        <p:nvSpPr>
          <p:cNvPr id="133" name="Google Shape;133;p13"/>
          <p:cNvSpPr/>
          <p:nvPr/>
        </p:nvSpPr>
        <p:spPr>
          <a:xfrm>
            <a:off x="11688616" y="6564686"/>
            <a:ext cx="468000" cy="2739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8091374" y="5226671"/>
            <a:ext cx="4609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CP Department, GCET,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Vallabh Vidyanagar</a:t>
            </a:r>
            <a:endParaRPr/>
          </a:p>
        </p:txBody>
      </p:sp>
      <p:pic>
        <p:nvPicPr>
          <p:cNvPr id="135" name="Google Shape;135;p13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2097" y="239784"/>
            <a:ext cx="1384038" cy="1280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-281007" y="5226671"/>
            <a:ext cx="4609500" cy="9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cap="small" dirty="0">
                <a:solidFill>
                  <a:srgbClr val="002060"/>
                </a:solidFill>
              </a:rPr>
              <a:t>Prabhav Patel,  Raj Ghoniya</a:t>
            </a:r>
            <a:endParaRPr dirty="0"/>
          </a:p>
          <a:p>
            <a:pPr lvl="0" algn="ctr">
              <a:lnSpc>
                <a:spcPct val="150000"/>
              </a:lnSpc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(12302040501042) </a:t>
            </a:r>
            <a:r>
              <a:rPr lang="en-US" sz="1600" b="1" cap="small" dirty="0">
                <a:solidFill>
                  <a:srgbClr val="002060"/>
                </a:solidFill>
              </a:rPr>
              <a:t>, (12302040501048)</a:t>
            </a:r>
          </a:p>
          <a:p>
            <a:pPr algn="ctr">
              <a:lnSpc>
                <a:spcPct val="150000"/>
              </a:lnSpc>
            </a:pPr>
            <a:r>
              <a:rPr lang="en-US" sz="1600" b="1" cap="small" dirty="0">
                <a:solidFill>
                  <a:srgbClr val="002060"/>
                </a:solidFill>
              </a:rPr>
              <a:t>CP, GCET</a:t>
            </a:r>
            <a:endParaRPr lang="en-US" sz="1600" dirty="0"/>
          </a:p>
          <a:p>
            <a:pPr lvl="0" algn="ctr">
              <a:lnSpc>
                <a:spcPct val="150000"/>
              </a:lnSpc>
            </a:pPr>
            <a:endParaRPr lang="en-US" sz="1600" b="1" i="0" u="none" strike="noStrike" cap="small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309991" y="1361435"/>
            <a:ext cx="11571900" cy="5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dirty="0"/>
          </a:p>
          <a:p>
            <a:pPr marL="285750" marR="0" lvl="2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sym typeface="Arial"/>
              </a:rPr>
              <a:t>Proble</a:t>
            </a:r>
            <a:r>
              <a:rPr lang="en-US" sz="2400" cap="small" dirty="0">
                <a:solidFill>
                  <a:schemeClr val="dk1"/>
                </a:solidFill>
              </a:rPr>
              <a:t>m Statement</a:t>
            </a:r>
            <a:endParaRPr lang="en-US" sz="2400" b="0" i="0" u="none" strike="noStrike" cap="small" dirty="0">
              <a:solidFill>
                <a:schemeClr val="dk1"/>
              </a:solidFill>
              <a:sym typeface="Arial"/>
            </a:endParaRPr>
          </a:p>
          <a:p>
            <a:pPr marL="285750" lvl="2" indent="-285750">
              <a:spcBef>
                <a:spcPts val="900"/>
              </a:spcBef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IN" sz="2400" cap="small" dirty="0">
                <a:solidFill>
                  <a:schemeClr val="dk1"/>
                </a:solidFill>
              </a:rPr>
              <a:t>Motivation / Need of problem</a:t>
            </a:r>
          </a:p>
          <a:p>
            <a:pPr marL="285750" lvl="2" indent="-285750">
              <a:spcBef>
                <a:spcPts val="900"/>
              </a:spcBef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sym typeface="Arial"/>
              </a:rPr>
              <a:t>Objectives</a:t>
            </a:r>
          </a:p>
          <a:p>
            <a:pPr marL="285750" marR="0" lvl="2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sym typeface="Arial"/>
              </a:rPr>
              <a:t>Scope</a:t>
            </a:r>
            <a:endParaRPr sz="2400" b="0" i="0" u="none" strike="noStrike" cap="small" dirty="0">
              <a:solidFill>
                <a:schemeClr val="dk1"/>
              </a:solidFill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sym typeface="Arial"/>
              </a:rPr>
              <a:t>Methodology/Approach</a:t>
            </a:r>
            <a:endParaRPr sz="2400" b="0" i="0" u="none" strike="noStrike" cap="small" dirty="0">
              <a:solidFill>
                <a:schemeClr val="dk1"/>
              </a:solidFill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sym typeface="Arial"/>
              </a:rPr>
              <a:t>Tools and Technologies</a:t>
            </a:r>
            <a:endParaRPr dirty="0"/>
          </a:p>
          <a:p>
            <a:pPr marL="285750" marR="0" lvl="2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dirty="0"/>
          </a:p>
          <a:p>
            <a:pPr marL="285750" marR="0" lvl="2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None/>
            </a:pP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Noto Sans Symbols"/>
              <a:buNone/>
            </a:pP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i="0" u="none" strike="noStrike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  <p:sp>
        <p:nvSpPr>
          <p:cNvPr id="145" name="Google Shape;145;p14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u="none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dirty="0"/>
          </a:p>
        </p:txBody>
      </p:sp>
      <p:pic>
        <p:nvPicPr>
          <p:cNvPr id="147" name="Google Shape;147;p14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dirty="0"/>
          </a:p>
        </p:txBody>
      </p:sp>
      <p:sp>
        <p:nvSpPr>
          <p:cNvPr id="149" name="Google Shape;149;p14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 System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  <p:sp>
        <p:nvSpPr>
          <p:cNvPr id="157" name="Google Shape;157;p15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pic>
        <p:nvPicPr>
          <p:cNvPr id="159" name="Google Shape;159;p15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12302040501042, 48</a:t>
            </a:r>
            <a:endParaRPr dirty="0"/>
          </a:p>
        </p:txBody>
      </p:sp>
      <p:sp>
        <p:nvSpPr>
          <p:cNvPr id="161" name="Google Shape;161;p15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762A6B-AC2B-F496-E378-9F71BB28A2E9}"/>
              </a:ext>
            </a:extLst>
          </p:cNvPr>
          <p:cNvSpPr txBox="1"/>
          <p:nvPr/>
        </p:nvSpPr>
        <p:spPr>
          <a:xfrm>
            <a:off x="1202790" y="1366623"/>
            <a:ext cx="97863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Stock Market</a:t>
            </a:r>
          </a:p>
          <a:p>
            <a:pPr algn="just"/>
            <a:br>
              <a:rPr lang="en-US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18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stock market is a place where people buy and sell shares of companies. It helps companies raise money and allows investors to grow their money over time.</a:t>
            </a:r>
            <a:endParaRPr lang="en-IN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94265-8F69-880B-B6F4-606538B7839C}"/>
              </a:ext>
            </a:extLst>
          </p:cNvPr>
          <p:cNvSpPr txBox="1"/>
          <p:nvPr/>
        </p:nvSpPr>
        <p:spPr>
          <a:xfrm>
            <a:off x="1202790" y="2653048"/>
            <a:ext cx="9786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Momentum-Based Investing</a:t>
            </a: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Momentum strategy focuses on stocks that have shown good performance in the recent past.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It is based on the idea that stocks moving upward often continue to move in the same direction for some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This strategy uses past price data to identify strong stocks instead of predicting future prices.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Momentum investing helps investors follow market trends rather than going against them.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  <p:sp>
        <p:nvSpPr>
          <p:cNvPr id="169" name="Google Shape;169;p16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dirty="0"/>
          </a:p>
        </p:txBody>
      </p:sp>
      <p:pic>
        <p:nvPicPr>
          <p:cNvPr id="171" name="Google Shape;171;p1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73" name="Google Shape;173;p16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912DA-3EE7-9FCA-9300-E5A50ACFFAD0}"/>
              </a:ext>
            </a:extLst>
          </p:cNvPr>
          <p:cNvSpPr txBox="1"/>
          <p:nvPr/>
        </p:nvSpPr>
        <p:spPr>
          <a:xfrm>
            <a:off x="1202828" y="1524000"/>
            <a:ext cx="9786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Mutual funds follow fixed rules and regulations, such as limited rebalancing frequency (for example, once in 6 months).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Because of these restrictions, mutual funds may miss short-term market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Investors also face exit load charges when they withdraw or rebalance their investments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There is no simple system where users can test momentum strategies with their own parameters.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C18EA52-D470-EA11-F5F0-19750E4B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>
            <a:extLst>
              <a:ext uri="{FF2B5EF4-FFF2-40B4-BE49-F238E27FC236}">
                <a16:creationId xmlns:a16="http://schemas.microsoft.com/office/drawing/2014/main" id="{C877EAB5-115E-3D78-F64E-EFDD9FF85E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6EB3895C-AA5D-C931-6B7A-87DFA90937D6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E1DE29D0-BA81-70D1-8EE9-E84A055557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821B163D-56F7-C386-08F7-DF198949B983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67CED112-E6FD-368E-F01E-DF87EEAC51C7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Motivation </a:t>
            </a:r>
            <a:endParaRPr dirty="0"/>
          </a:p>
        </p:txBody>
      </p:sp>
      <p:pic>
        <p:nvPicPr>
          <p:cNvPr id="183" name="Google Shape;183;p17" descr="Logo, company name&#10;&#10;Description automatically generated">
            <a:extLst>
              <a:ext uri="{FF2B5EF4-FFF2-40B4-BE49-F238E27FC236}">
                <a16:creationId xmlns:a16="http://schemas.microsoft.com/office/drawing/2014/main" id="{5DF37782-2774-7A64-2671-2A33AEBB97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9800E826-944D-0EC5-9E2A-6A02C689EAE9}"/>
              </a:ext>
            </a:extLst>
          </p:cNvPr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3939197B-DAAE-1459-DA9A-A6C661FF0744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3E425-F206-8F78-A36E-26E6E895C984}"/>
              </a:ext>
            </a:extLst>
          </p:cNvPr>
          <p:cNvSpPr txBox="1"/>
          <p:nvPr/>
        </p:nvSpPr>
        <p:spPr>
          <a:xfrm>
            <a:off x="1202872" y="1514856"/>
            <a:ext cx="97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Most investors want to generate more money than normal market returns.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Traditional investment options often give average returns over a long time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21BE73-2A41-C26D-AD35-3E77F9DCA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445772"/>
              </p:ext>
            </p:extLst>
          </p:nvPr>
        </p:nvGraphicFramePr>
        <p:xfrm>
          <a:off x="2236173" y="2930252"/>
          <a:ext cx="7719536" cy="257217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29884">
                  <a:extLst>
                    <a:ext uri="{9D8B030D-6E8A-4147-A177-3AD203B41FA5}">
                      <a16:colId xmlns:a16="http://schemas.microsoft.com/office/drawing/2014/main" val="3677995306"/>
                    </a:ext>
                  </a:extLst>
                </a:gridCol>
                <a:gridCol w="1929884">
                  <a:extLst>
                    <a:ext uri="{9D8B030D-6E8A-4147-A177-3AD203B41FA5}">
                      <a16:colId xmlns:a16="http://schemas.microsoft.com/office/drawing/2014/main" val="645241062"/>
                    </a:ext>
                  </a:extLst>
                </a:gridCol>
                <a:gridCol w="1929884">
                  <a:extLst>
                    <a:ext uri="{9D8B030D-6E8A-4147-A177-3AD203B41FA5}">
                      <a16:colId xmlns:a16="http://schemas.microsoft.com/office/drawing/2014/main" val="1287312650"/>
                    </a:ext>
                  </a:extLst>
                </a:gridCol>
                <a:gridCol w="1929884">
                  <a:extLst>
                    <a:ext uri="{9D8B030D-6E8A-4147-A177-3AD203B41FA5}">
                      <a16:colId xmlns:a16="http://schemas.microsoft.com/office/drawing/2014/main" val="3606685745"/>
                    </a:ext>
                  </a:extLst>
                </a:gridCol>
              </a:tblGrid>
              <a:tr h="6430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Index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 Year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 Year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 Year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476005"/>
                  </a:ext>
                </a:extLst>
              </a:tr>
              <a:tr h="64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Nifty 50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13.67 %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13.69 %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14.35 %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837538"/>
                  </a:ext>
                </a:extLst>
              </a:tr>
              <a:tr h="6430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Nifty Midcap 150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24.74 %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23.18 %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cap="all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18.76 %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653394"/>
                  </a:ext>
                </a:extLst>
              </a:tr>
              <a:tr h="64304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Nifty Midcap 150 Momentum </a:t>
                      </a:r>
                      <a:r>
                        <a:rPr lang="en-IN" sz="1600" b="1" i="0" u="none" strike="noStrike" cap="all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  <a:endParaRPr lang="en-IN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cap="all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25.13 %</a:t>
                      </a:r>
                      <a:endParaRPr lang="en-IN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cap="all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28.25 %</a:t>
                      </a:r>
                      <a:endParaRPr lang="en-IN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cap="all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21.76 %</a:t>
                      </a:r>
                      <a:endParaRPr lang="en-IN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89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38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38B85782-4A67-CC57-1894-B2583662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>
            <a:extLst>
              <a:ext uri="{FF2B5EF4-FFF2-40B4-BE49-F238E27FC236}">
                <a16:creationId xmlns:a16="http://schemas.microsoft.com/office/drawing/2014/main" id="{6B177B62-AEB3-33FC-B6DA-0CD8F964E0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CF109D02-71F0-45E5-7FD3-BA65AD0F18D6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F42564FD-7E77-4E69-AD99-CAD84E8EDB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95210350-BF96-D9C1-5432-77508BD7D212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909DC8AB-00EC-3C31-CB33-C5E3B7D38DB8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</a:rPr>
              <a:t>Objectives</a:t>
            </a: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pic>
        <p:nvPicPr>
          <p:cNvPr id="183" name="Google Shape;183;p17" descr="Logo, company name&#10;&#10;Description automatically generated">
            <a:extLst>
              <a:ext uri="{FF2B5EF4-FFF2-40B4-BE49-F238E27FC236}">
                <a16:creationId xmlns:a16="http://schemas.microsoft.com/office/drawing/2014/main" id="{02411D0A-1884-55F2-4408-EEFDF49D6F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CD4DDEF5-F81B-2622-7C9F-641424C46CE6}"/>
              </a:ext>
            </a:extLst>
          </p:cNvPr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713740A3-685F-5C01-E030-15118C1CA11B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A8E4D-420E-E0A3-A2F3-BD3AF336FC4E}"/>
              </a:ext>
            </a:extLst>
          </p:cNvPr>
          <p:cNvSpPr txBox="1"/>
          <p:nvPr/>
        </p:nvSpPr>
        <p:spPr>
          <a:xfrm>
            <a:off x="1202828" y="1818968"/>
            <a:ext cx="9786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To aim for better returns in capital markets using a momentum-based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To design an algorithm that tracks high-momentum stocks without any expense ratio, unlike mutual funds.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To reduce the time and effort needed for stock research and order execution through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To allow users to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backtest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their own momentum strategies using historical market data.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25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07B75D7-E380-39EF-D2F2-FF25C445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>
            <a:extLst>
              <a:ext uri="{FF2B5EF4-FFF2-40B4-BE49-F238E27FC236}">
                <a16:creationId xmlns:a16="http://schemas.microsoft.com/office/drawing/2014/main" id="{9C5838B3-92A5-C62C-984A-229F66C447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0F8B5ED2-E373-3661-B6FC-02E8DEADBA29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C15A1DE7-2D48-CC2F-FD47-A785182239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255A6406-54FE-EE54-5891-76CE960D599D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71089287-C1E2-DB3F-A07D-816D267CAE8B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Scope </a:t>
            </a:r>
            <a:endParaRPr dirty="0"/>
          </a:p>
        </p:txBody>
      </p:sp>
      <p:pic>
        <p:nvPicPr>
          <p:cNvPr id="183" name="Google Shape;183;p17" descr="Logo, company name&#10;&#10;Description automatically generated">
            <a:extLst>
              <a:ext uri="{FF2B5EF4-FFF2-40B4-BE49-F238E27FC236}">
                <a16:creationId xmlns:a16="http://schemas.microsoft.com/office/drawing/2014/main" id="{9E026135-570A-D2F0-5D82-CA9736F581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8B0A6316-D724-7961-75BC-7B0D6FD1227F}"/>
              </a:ext>
            </a:extLst>
          </p:cNvPr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04DC79B8-1217-9EEA-AB23-821F3BABBED4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AB0547-9D97-044F-639B-642E15554AFC}"/>
              </a:ext>
            </a:extLst>
          </p:cNvPr>
          <p:cNvSpPr txBox="1"/>
          <p:nvPr/>
        </p:nvSpPr>
        <p:spPr>
          <a:xfrm>
            <a:off x="1202872" y="1337884"/>
            <a:ext cx="9786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Works only on Nifty 250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Uses a momentum-based strategy to select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Allows custom rebalancing frequency and strategy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Supports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backtesting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using historical market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Connected with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Fyers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API for live order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Dashboard shows live portfolio value and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PnL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0A277-0E82-1CA4-14C2-80DB0FD8F15D}"/>
              </a:ext>
            </a:extLst>
          </p:cNvPr>
          <p:cNvSpPr txBox="1"/>
          <p:nvPr/>
        </p:nvSpPr>
        <p:spPr>
          <a:xfrm>
            <a:off x="1052998" y="5836211"/>
            <a:ext cx="9649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(Note: The stock market is unpredictable, and this platform does not guarantee any returns.)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36853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3FC07E7F-390B-E46E-99D8-E95FAD07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>
            <a:extLst>
              <a:ext uri="{FF2B5EF4-FFF2-40B4-BE49-F238E27FC236}">
                <a16:creationId xmlns:a16="http://schemas.microsoft.com/office/drawing/2014/main" id="{EF39C718-ACDC-46FF-C4D4-7ACE1943C8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EE073D52-772C-A405-C77A-71D7DC65BFA5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6683F256-A816-6A2B-98EF-5AFBBC4355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E23DFD4B-FA2F-534C-4D27-C16F9135B3AF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7EBC94F6-6814-0225-D32E-1F1A47EF8E08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Scope </a:t>
            </a:r>
            <a:endParaRPr dirty="0"/>
          </a:p>
        </p:txBody>
      </p:sp>
      <p:pic>
        <p:nvPicPr>
          <p:cNvPr id="183" name="Google Shape;183;p17" descr="Logo, company name&#10;&#10;Description automatically generated">
            <a:extLst>
              <a:ext uri="{FF2B5EF4-FFF2-40B4-BE49-F238E27FC236}">
                <a16:creationId xmlns:a16="http://schemas.microsoft.com/office/drawing/2014/main" id="{02166C00-52F4-844F-8C41-5931BC50E6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26F2471A-6591-100E-981C-76C921B06E26}"/>
              </a:ext>
            </a:extLst>
          </p:cNvPr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8D0E518E-1EF3-CC42-441C-523C83ABC42E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964A9F-666D-439A-8669-CC44B30BD6C9}"/>
              </a:ext>
            </a:extLst>
          </p:cNvPr>
          <p:cNvSpPr txBox="1"/>
          <p:nvPr/>
        </p:nvSpPr>
        <p:spPr>
          <a:xfrm>
            <a:off x="1202872" y="1337884"/>
            <a:ext cx="9786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Not Included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Prediction of future stock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Guaranteed returns or fixed profits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Support for stocks outside Nifty 250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Brokerage charges, taxes, and other trading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Slippage between expected and executed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Handling of failed, rejected, or partial orders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7CFB3-4750-FBEE-AC36-2CEDB511E069}"/>
              </a:ext>
            </a:extLst>
          </p:cNvPr>
          <p:cNvSpPr txBox="1"/>
          <p:nvPr/>
        </p:nvSpPr>
        <p:spPr>
          <a:xfrm>
            <a:off x="1052998" y="5836211"/>
            <a:ext cx="9649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(Note: The stock market is unpredictable, and this platform does not guarantee any returns.)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110466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Approach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1" name="Google Shape;171;p1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73" name="Google Shape;173;p16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Google Shape;141;p14">
            <a:extLst>
              <a:ext uri="{FF2B5EF4-FFF2-40B4-BE49-F238E27FC236}">
                <a16:creationId xmlns:a16="http://schemas.microsoft.com/office/drawing/2014/main" id="{2CD68FA8-77C5-84BC-E05F-B5731E4F67D7}"/>
              </a:ext>
            </a:extLst>
          </p:cNvPr>
          <p:cNvSpPr txBox="1"/>
          <p:nvPr/>
        </p:nvSpPr>
        <p:spPr>
          <a:xfrm>
            <a:off x="1339671" y="1453373"/>
            <a:ext cx="11571900" cy="432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None/>
              <a:tabLst/>
              <a:defRPr/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Our approach involves 4 phase :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+mj-lt"/>
              <a:buAutoNum type="arabicPeriod"/>
              <a:tabLst/>
              <a:defRPr/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Data Ingestion phase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+mj-lt"/>
              <a:buAutoNum type="arabicPeriod"/>
              <a:tabLst/>
              <a:defRPr/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Algorithm &amp; Back Testing stage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+mj-lt"/>
              <a:buAutoNum type="arabicPeriod"/>
              <a:tabLst/>
              <a:defRPr/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Ranking &amp; Rebalancing stage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+mj-lt"/>
              <a:buAutoNum type="arabicPeriod"/>
              <a:tabLst/>
              <a:defRPr/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Monitoring stage</a:t>
            </a:r>
          </a:p>
          <a:p>
            <a:pPr marL="285750" marR="0" lvl="0" indent="-13335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0" cap="sm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sm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Ingestion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1" name="Google Shape;171;p1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73" name="Google Shape;173;p16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Google Shape;141;p14">
            <a:extLst>
              <a:ext uri="{FF2B5EF4-FFF2-40B4-BE49-F238E27FC236}">
                <a16:creationId xmlns:a16="http://schemas.microsoft.com/office/drawing/2014/main" id="{2CD68FA8-77C5-84BC-E05F-B5731E4F67D7}"/>
              </a:ext>
            </a:extLst>
          </p:cNvPr>
          <p:cNvSpPr txBox="1"/>
          <p:nvPr/>
        </p:nvSpPr>
        <p:spPr>
          <a:xfrm>
            <a:off x="446840" y="1267073"/>
            <a:ext cx="11571900" cy="5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Initial Bootstrapping: One time ingestion of 10 + 1 years of daily OHLCV data for top 250 stocks via Yahoo Finance.</a:t>
            </a: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Automatic calculation of 1-year rolling standard deviation for volatility normalization.</a:t>
            </a: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None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Daily Sync of stock prices in the DB.</a:t>
            </a: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None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So the backend will be automatically fetching previous day’s data at 7:00 am before market open via y-finance.</a:t>
            </a:r>
            <a:endParaRPr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0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Algorithm &amp; </a:t>
            </a:r>
            <a:r>
              <a:rPr kumimoji="0" lang="en-US" sz="4000" b="1" i="0" u="none" strike="noStrike" kern="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Backtesting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1" name="Google Shape;171;p1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73" name="Google Shape;173;p16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Google Shape;141;p14">
            <a:extLst>
              <a:ext uri="{FF2B5EF4-FFF2-40B4-BE49-F238E27FC236}">
                <a16:creationId xmlns:a16="http://schemas.microsoft.com/office/drawing/2014/main" id="{2CD68FA8-77C5-84BC-E05F-B5731E4F67D7}"/>
              </a:ext>
            </a:extLst>
          </p:cNvPr>
          <p:cNvSpPr txBox="1"/>
          <p:nvPr/>
        </p:nvSpPr>
        <p:spPr>
          <a:xfrm>
            <a:off x="446840" y="1091658"/>
            <a:ext cx="11571900" cy="528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User creates a new strategy based on his/her custom parameters.</a:t>
            </a: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The user parameters include: </a:t>
            </a: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User can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backtest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on various combinations of parameters and deploy his choice of strategy.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548AC-F8EC-FE33-C3BC-1F63D549F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212" y="2244442"/>
            <a:ext cx="9464520" cy="352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7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Ranking &amp; Rebalancing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1" name="Google Shape;171;p1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73" name="Google Shape;173;p16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Google Shape;141;p14">
            <a:extLst>
              <a:ext uri="{FF2B5EF4-FFF2-40B4-BE49-F238E27FC236}">
                <a16:creationId xmlns:a16="http://schemas.microsoft.com/office/drawing/2014/main" id="{2CD68FA8-77C5-84BC-E05F-B5731E4F67D7}"/>
              </a:ext>
            </a:extLst>
          </p:cNvPr>
          <p:cNvSpPr txBox="1"/>
          <p:nvPr/>
        </p:nvSpPr>
        <p:spPr>
          <a:xfrm>
            <a:off x="446840" y="1072307"/>
            <a:ext cx="11571900" cy="528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The algorithms works by creating a portfolio of top ‘N’ stocks based on momentum score. (equal weight).</a:t>
            </a:r>
          </a:p>
          <a:p>
            <a:pPr marL="495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Momentum Score is defined by :</a:t>
            </a:r>
          </a:p>
          <a:p>
            <a:pPr marL="4953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This process repeats at each rebalancing date after data ingestion (7:00am).</a:t>
            </a:r>
          </a:p>
          <a:p>
            <a:pPr marL="4953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The old portfolio is compared with new target portfolio and based on the difference and available capital , new orders are calculated and punched at market open (9:00am) automatically via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Fyers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API.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F8A41-4D53-6F08-0524-9EDB82650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356" y="2664868"/>
            <a:ext cx="8021169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1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  <a:tabLst/>
              <a:defRPr/>
            </a:pPr>
            <a:endParaRPr kumimoji="0" sz="2000" b="1" i="0" u="none" strike="noStrike" kern="0" cap="small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Monitoring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1" name="Google Shape;171;p1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73" name="Google Shape;173;p16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Google Shape;141;p14">
            <a:extLst>
              <a:ext uri="{FF2B5EF4-FFF2-40B4-BE49-F238E27FC236}">
                <a16:creationId xmlns:a16="http://schemas.microsoft.com/office/drawing/2014/main" id="{2CD68FA8-77C5-84BC-E05F-B5731E4F67D7}"/>
              </a:ext>
            </a:extLst>
          </p:cNvPr>
          <p:cNvSpPr txBox="1"/>
          <p:nvPr/>
        </p:nvSpPr>
        <p:spPr>
          <a:xfrm>
            <a:off x="558698" y="1389158"/>
            <a:ext cx="10962742" cy="528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spcBef>
                <a:spcPts val="900"/>
              </a:spcBef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At last the user is able to monitor his deployed strategy via the portal.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The dashboard shows the current portfolio along with its live market value.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Performance metrics like max drawdown,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PnL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Cagr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will be displayed.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953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This live feed will be possible by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websockets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provided by the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fyers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api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1642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14</a:t>
            </a:fld>
            <a:endParaRPr sz="1600"/>
          </a:p>
        </p:txBody>
      </p:sp>
      <p:sp>
        <p:nvSpPr>
          <p:cNvPr id="181" name="Google Shape;181;p17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Piecing It Together</a:t>
            </a:r>
            <a:endParaRPr dirty="0"/>
          </a:p>
        </p:txBody>
      </p:sp>
      <p:pic>
        <p:nvPicPr>
          <p:cNvPr id="183" name="Google Shape;183;p17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E8BA14C8-8A9C-B731-1224-65721A8CB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9" y="1011922"/>
            <a:ext cx="12018740" cy="522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48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15</a:t>
            </a:fld>
            <a:endParaRPr sz="1600"/>
          </a:p>
        </p:txBody>
      </p:sp>
      <p:sp>
        <p:nvSpPr>
          <p:cNvPr id="181" name="Google Shape;181;p17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Tools &amp; Technologies </a:t>
            </a:r>
            <a:endParaRPr dirty="0"/>
          </a:p>
        </p:txBody>
      </p:sp>
      <p:pic>
        <p:nvPicPr>
          <p:cNvPr id="183" name="Google Shape;183;p17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BA67E0-3F88-FFD3-1B34-3976FB14C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979808"/>
              </p:ext>
            </p:extLst>
          </p:nvPr>
        </p:nvGraphicFramePr>
        <p:xfrm>
          <a:off x="1202872" y="1358761"/>
          <a:ext cx="9786300" cy="4776568"/>
        </p:xfrm>
        <a:graphic>
          <a:graphicData uri="http://schemas.openxmlformats.org/drawingml/2006/table">
            <a:tbl>
              <a:tblPr firstRow="1" bandRow="1"/>
              <a:tblGrid>
                <a:gridCol w="4893150">
                  <a:extLst>
                    <a:ext uri="{9D8B030D-6E8A-4147-A177-3AD203B41FA5}">
                      <a16:colId xmlns:a16="http://schemas.microsoft.com/office/drawing/2014/main" val="2953092679"/>
                    </a:ext>
                  </a:extLst>
                </a:gridCol>
                <a:gridCol w="4893150">
                  <a:extLst>
                    <a:ext uri="{9D8B030D-6E8A-4147-A177-3AD203B41FA5}">
                      <a16:colId xmlns:a16="http://schemas.microsoft.com/office/drawing/2014/main" val="1634004780"/>
                    </a:ext>
                  </a:extLst>
                </a:gridCol>
              </a:tblGrid>
              <a:tr h="11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Programming Language: Python</a:t>
                      </a: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 Handling &amp; </a:t>
                      </a:r>
                      <a:r>
                        <a:rPr lang="en-IN" sz="1400" b="0" i="0" u="none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Backtesting</a:t>
                      </a: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 Pandas, NumPy</a:t>
                      </a: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146486"/>
                  </a:ext>
                </a:extLst>
              </a:tr>
              <a:tr h="1194142">
                <a:tc>
                  <a:txBody>
                    <a:bodyPr/>
                    <a:lstStyle/>
                    <a:p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Frontend &amp; Dashboard: HTML, CSS, JavaScript, React.js</a:t>
                      </a:r>
                    </a:p>
                    <a:p>
                      <a:endParaRPr lang="en-IN" sz="1400" b="0" i="0" u="none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Historical Data: </a:t>
                      </a:r>
                      <a:r>
                        <a:rPr lang="en-IN" sz="1400" b="0" i="0" u="none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yfinance</a:t>
                      </a:r>
                      <a:endParaRPr lang="en-IN" sz="1400" b="0" i="0" u="none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071291"/>
                  </a:ext>
                </a:extLst>
              </a:tr>
              <a:tr h="11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Backend Framework: </a:t>
                      </a:r>
                      <a:r>
                        <a:rPr lang="en-IN" sz="1400" b="0" i="0" u="none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FastAPI</a:t>
                      </a:r>
                      <a:endParaRPr lang="en-IN" sz="1400" b="0" i="0" u="none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Trading &amp; Order Execution: </a:t>
                      </a:r>
                      <a:r>
                        <a:rPr lang="en-IN" sz="1400" b="0" i="0" u="none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Fyers</a:t>
                      </a: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API</a:t>
                      </a: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026805"/>
                  </a:ext>
                </a:extLst>
              </a:tr>
              <a:tr h="11941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Database: PostgreSQL</a:t>
                      </a: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Version Control: Git &amp; GitHub</a:t>
                      </a:r>
                    </a:p>
                    <a:p>
                      <a:pPr algn="ctr"/>
                      <a:endParaRPr lang="en-IN" sz="1400" b="0" i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42577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50AA16E-1CC4-642F-40FD-A0607F61E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818" y="2878524"/>
            <a:ext cx="845728" cy="753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9E8E0A-A8A9-598E-0C6F-1906C1B62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5919" y="5267857"/>
            <a:ext cx="772583" cy="7970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A1EE14-719E-186B-328B-37C1855AF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2872" y="1600619"/>
            <a:ext cx="932764" cy="9327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0D1B2C-FFBF-032C-D4CF-834A98A84E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2328" y="1645492"/>
            <a:ext cx="843017" cy="8430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64F4E5-39E2-A50E-573B-34D99E9D79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9254" y="2838875"/>
            <a:ext cx="1967528" cy="8326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0C38AD0-747B-2441-5855-AB567D58A0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0892" y="4032693"/>
            <a:ext cx="884251" cy="8842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DD6A25-04A0-817F-50A2-E72A68B64B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8789" y="5208976"/>
            <a:ext cx="1528456" cy="8559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E05DEE-239C-30E0-472C-4E775CF85D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1001" y="4063330"/>
            <a:ext cx="682420" cy="6824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24D201-7804-F80A-5562-308C74FBA4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8225" y="2809055"/>
            <a:ext cx="1493986" cy="8963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B7E8F8B-BBB7-CE3C-5704-E03E32DA8B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31529" y="1697766"/>
            <a:ext cx="642279" cy="7053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05A1D3C0-7F73-4DA5-3E2D-6948EC72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>
            <a:extLst>
              <a:ext uri="{FF2B5EF4-FFF2-40B4-BE49-F238E27FC236}">
                <a16:creationId xmlns:a16="http://schemas.microsoft.com/office/drawing/2014/main" id="{C2BD24F0-B1F9-3BC7-76B8-80C762EED4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A62C2609-D160-F26A-B26C-97FBF823734A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83870646-7D59-9BCA-4FCA-1E10BC6FB6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16</a:t>
            </a:fld>
            <a:endParaRPr sz="160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39B3FF06-8037-5A64-AD33-296662F65176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B133238A-6FD3-7182-8B1D-5CF24B6CF63A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dirty="0"/>
          </a:p>
        </p:txBody>
      </p:sp>
      <p:pic>
        <p:nvPicPr>
          <p:cNvPr id="183" name="Google Shape;183;p17" descr="Logo, company name&#10;&#10;Description automatically generated">
            <a:extLst>
              <a:ext uri="{FF2B5EF4-FFF2-40B4-BE49-F238E27FC236}">
                <a16:creationId xmlns:a16="http://schemas.microsoft.com/office/drawing/2014/main" id="{65156D69-8CE8-04A6-E65A-B4F755533F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93F80F58-8B06-8E30-2C9C-8D62164296D1}"/>
              </a:ext>
            </a:extLst>
          </p:cNvPr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4DC6E98E-2068-5D8C-35E4-4FBFB64C4DE3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CC89C-6914-29FA-41F8-C0026215AAFD}"/>
              </a:ext>
            </a:extLst>
          </p:cNvPr>
          <p:cNvSpPr txBox="1"/>
          <p:nvPr/>
        </p:nvSpPr>
        <p:spPr>
          <a:xfrm>
            <a:off x="1202791" y="1594617"/>
            <a:ext cx="9786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MAT System shows how momentum-based strategies can be implemented using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project highlights the use of automation in trading, from data analysis to order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Gives Practical exposure to broker APIs and live market data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system provides a platform to experiment and learn without relying on fixed investment rules.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Hands-on experience in building end-to-end financial systems (data → logic → execution → dashboard).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Overall, the project bridges software engineering and financial markets.</a:t>
            </a: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528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C5A3A9A1-96D8-DED5-D29D-EE8E39CDC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>
            <a:extLst>
              <a:ext uri="{FF2B5EF4-FFF2-40B4-BE49-F238E27FC236}">
                <a16:creationId xmlns:a16="http://schemas.microsoft.com/office/drawing/2014/main" id="{7C2625F5-B298-3685-9FED-AB584ECBEA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979B1F13-14A6-3A86-7ABB-2031948FC745}"/>
              </a:ext>
            </a:extLst>
          </p:cNvPr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>
            <a:extLst>
              <a:ext uri="{FF2B5EF4-FFF2-40B4-BE49-F238E27FC236}">
                <a16:creationId xmlns:a16="http://schemas.microsoft.com/office/drawing/2014/main" id="{8F8EF6EC-4A79-B0A5-C6B8-9864141189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17</a:t>
            </a:fld>
            <a:endParaRPr sz="1600"/>
          </a:p>
        </p:txBody>
      </p:sp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91056F0A-F1B9-AE57-CAF7-D6F3D2855CDA}"/>
              </a:ext>
            </a:extLst>
          </p:cNvPr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F18E69C5-D34E-8868-DC44-3EBF84E0E077}"/>
              </a:ext>
            </a:extLst>
          </p:cNvPr>
          <p:cNvSpPr txBox="1"/>
          <p:nvPr/>
        </p:nvSpPr>
        <p:spPr>
          <a:xfrm>
            <a:off x="1202872" y="152400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  <a:endParaRPr/>
          </a:p>
        </p:txBody>
      </p:sp>
      <p:pic>
        <p:nvPicPr>
          <p:cNvPr id="183" name="Google Shape;183;p17" descr="Logo, company name&#10;&#10;Description automatically generated">
            <a:extLst>
              <a:ext uri="{FF2B5EF4-FFF2-40B4-BE49-F238E27FC236}">
                <a16:creationId xmlns:a16="http://schemas.microsoft.com/office/drawing/2014/main" id="{F0E40EA8-4F33-3DDE-EED9-A2F56D6A6B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D00F6522-82BD-9CF8-BFE3-C62DF7EE964C}"/>
              </a:ext>
            </a:extLst>
          </p:cNvPr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27405B74-9E92-3B7B-0738-956C5C329035}"/>
              </a:ext>
            </a:extLst>
          </p:cNvPr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C1753C-2F49-9CCB-5423-A4D703410EC3}"/>
              </a:ext>
            </a:extLst>
          </p:cNvPr>
          <p:cNvSpPr txBox="1"/>
          <p:nvPr/>
        </p:nvSpPr>
        <p:spPr>
          <a:xfrm>
            <a:off x="736484" y="1923681"/>
            <a:ext cx="105472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NSE India – Historical Market Data 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https://www.nseindia.com/all-reports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Nifty Indices Documentation: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https://www.niftyindices.com/market-data/return-profile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Fyers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API Documentation: 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https://myapi.fyers.in/docsv3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yFinance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Docs: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https://ranaroussi.github.io/yfinance/reference/index.html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Momentum Investing: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  <a:hlinkClick r:id="rId9"/>
              </a:rPr>
              <a:t>https://groww.in/blog/momentum-funds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9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8463280" y="863594"/>
            <a:ext cx="39063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endParaRPr sz="2000" b="1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18</a:t>
            </a:fld>
            <a:endParaRPr sz="1600"/>
          </a:p>
        </p:txBody>
      </p:sp>
      <p:pic>
        <p:nvPicPr>
          <p:cNvPr id="193" name="Google Shape;193;p18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4" t="23900" r="24745" b="27451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-172779" y="6483773"/>
            <a:ext cx="302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12302040501042, 48</a:t>
            </a:r>
            <a:endParaRPr lang="en-US" sz="1600" dirty="0"/>
          </a:p>
        </p:txBody>
      </p:sp>
      <p:sp>
        <p:nvSpPr>
          <p:cNvPr id="195" name="Google Shape;195;p18"/>
          <p:cNvSpPr/>
          <p:nvPr/>
        </p:nvSpPr>
        <p:spPr>
          <a:xfrm>
            <a:off x="3853891" y="6483773"/>
            <a:ext cx="44841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b="1" cap="small" dirty="0">
                <a:solidFill>
                  <a:schemeClr val="lt1"/>
                </a:solidFill>
              </a:rPr>
              <a:t>MAT System</a:t>
            </a:r>
            <a:endParaRPr lang="en-US" sz="1600"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17649" y="2492829"/>
            <a:ext cx="121566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24108"/>
              </a:buClr>
              <a:buSzPts val="8800"/>
              <a:buFont typeface="Arial"/>
              <a:buNone/>
            </a:pPr>
            <a:r>
              <a:rPr lang="en-US" sz="8800" b="1" cap="small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Thank You…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1079</Words>
  <Application>Microsoft Office PowerPoint</Application>
  <PresentationFormat>Widescreen</PresentationFormat>
  <Paragraphs>264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Noto Sans Symbols</vt:lpstr>
      <vt:lpstr>Segoe UI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Prabhav Patel</cp:lastModifiedBy>
  <cp:revision>9</cp:revision>
  <dcterms:modified xsi:type="dcterms:W3CDTF">2026-01-09T16:47:33Z</dcterms:modified>
</cp:coreProperties>
</file>